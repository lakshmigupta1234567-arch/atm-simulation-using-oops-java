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67" r:id="rId2"/>
    <p:sldId id="256" r:id="rId3"/>
    <p:sldId id="257" r:id="rId4"/>
    <p:sldId id="258" r:id="rId5"/>
    <p:sldId id="259" r:id="rId6"/>
    <p:sldId id="262" r:id="rId7"/>
    <p:sldId id="263" r:id="rId8"/>
    <p:sldId id="264" r:id="rId9"/>
    <p:sldId id="265" r:id="rId10"/>
    <p:sldId id="261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0EE77E-38DB-4A0D-9A3C-3ED93F65AB20}" v="9" dt="2026-06-09T15:12:48.6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>
        <p:scale>
          <a:sx n="66" d="100"/>
          <a:sy n="66" d="100"/>
        </p:scale>
        <p:origin x="840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8982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100000">
            <a:off x="8290560" y="-1463040"/>
            <a:ext cx="6705600" cy="6705600"/>
          </a:xfrm>
          <a:prstGeom prst="rect">
            <a:avLst/>
          </a:prstGeom>
          <a:solidFill>
            <a:srgbClr val="D4A843">
              <a:alpha val="7000"/>
            </a:srgbClr>
          </a:solidFill>
          <a:ln w="19050">
            <a:solidFill>
              <a:srgbClr val="D4A843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9509760" y="3048000"/>
            <a:ext cx="4267200" cy="4267200"/>
          </a:xfrm>
          <a:prstGeom prst="rect">
            <a:avLst/>
          </a:prstGeom>
          <a:solidFill>
            <a:srgbClr val="2EC4B6">
              <a:alpha val="4000"/>
            </a:srgbClr>
          </a:solidFill>
          <a:ln w="12700">
            <a:solidFill>
              <a:srgbClr val="2EC4B6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5216" y="1097280"/>
            <a:ext cx="67056" cy="39014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792480" y="1072896"/>
            <a:ext cx="9144000" cy="390144"/>
          </a:xfrm>
          <a:prstGeom prst="roundRect">
            <a:avLst>
              <a:gd name="adj" fmla="val 12500"/>
            </a:avLst>
          </a:prstGeom>
          <a:solidFill>
            <a:srgbClr val="D4A843">
              <a:alpha val="85000"/>
            </a:srgbClr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0016" y="1072896"/>
            <a:ext cx="90220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dirty="0"/>
              <a:t>  JAVA OOP PROJECT  ·  RUNGTA INTERNATIONAL SKILLS UNIVERSITY  ·  SESSION 2025–26</a:t>
            </a:r>
            <a:endParaRPr lang="en-US" sz="1133" dirty="0"/>
          </a:p>
        </p:txBody>
      </p:sp>
      <p:sp>
        <p:nvSpPr>
          <p:cNvPr id="7" name="Text 5"/>
          <p:cNvSpPr/>
          <p:nvPr/>
        </p:nvSpPr>
        <p:spPr>
          <a:xfrm>
            <a:off x="780288" y="1560576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933" b="1" kern="0" spc="1333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ATM</a:t>
            </a:r>
            <a:endParaRPr lang="en-US" sz="10933" dirty="0"/>
          </a:p>
        </p:txBody>
      </p:sp>
      <p:sp>
        <p:nvSpPr>
          <p:cNvPr id="8" name="Text 6"/>
          <p:cNvSpPr/>
          <p:nvPr/>
        </p:nvSpPr>
        <p:spPr>
          <a:xfrm>
            <a:off x="780288" y="2779776"/>
            <a:ext cx="109728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867" b="1" kern="0" spc="2400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SIMULATION</a:t>
            </a:r>
            <a:endParaRPr lang="en-US" sz="5867" dirty="0"/>
          </a:p>
        </p:txBody>
      </p:sp>
      <p:sp>
        <p:nvSpPr>
          <p:cNvPr id="9" name="Text 7"/>
          <p:cNvSpPr/>
          <p:nvPr/>
        </p:nvSpPr>
        <p:spPr>
          <a:xfrm>
            <a:off x="780288" y="3925824"/>
            <a:ext cx="97536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Teller Machine  ·  Core Java &amp; Object-Oriented Programming</a:t>
            </a:r>
            <a:endParaRPr lang="en-US" sz="1733" dirty="0"/>
          </a:p>
        </p:txBody>
      </p:sp>
      <p:sp>
        <p:nvSpPr>
          <p:cNvPr id="10" name="Shape 8"/>
          <p:cNvSpPr/>
          <p:nvPr/>
        </p:nvSpPr>
        <p:spPr>
          <a:xfrm>
            <a:off x="780288" y="4535424"/>
            <a:ext cx="97536" cy="97536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1" name="Shape 9"/>
          <p:cNvSpPr/>
          <p:nvPr/>
        </p:nvSpPr>
        <p:spPr>
          <a:xfrm>
            <a:off x="950976" y="4578096"/>
            <a:ext cx="3048000" cy="12192"/>
          </a:xfrm>
          <a:prstGeom prst="rect">
            <a:avLst/>
          </a:prstGeom>
          <a:solidFill>
            <a:srgbClr val="D4A843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80288" y="481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/>
              <a:t>Submitted By  </a:t>
            </a:r>
            <a:r>
              <a:rPr lang="en-US" sz="1467" b="1" dirty="0"/>
              <a:t>Luxmi Gupta  (RU-25-11676)</a:t>
            </a:r>
            <a:endParaRPr lang="en-US" sz="1467" dirty="0"/>
          </a:p>
        </p:txBody>
      </p:sp>
      <p:sp>
        <p:nvSpPr>
          <p:cNvPr id="13" name="Text 11"/>
          <p:cNvSpPr/>
          <p:nvPr/>
        </p:nvSpPr>
        <p:spPr>
          <a:xfrm>
            <a:off x="780288" y="5242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/>
              <a:t>Under the Guidance of  </a:t>
            </a:r>
            <a:r>
              <a:rPr lang="en-US" sz="1467" b="1" dirty="0"/>
              <a:t>Mr. Santanu Sasmal</a:t>
            </a:r>
            <a:r>
              <a:rPr lang="en-US" sz="1467" dirty="0"/>
              <a:t>  ·  IBM SME &amp; Expert</a:t>
            </a:r>
          </a:p>
        </p:txBody>
      </p:sp>
      <p:sp>
        <p:nvSpPr>
          <p:cNvPr id="14" name="Text 12"/>
          <p:cNvSpPr/>
          <p:nvPr/>
        </p:nvSpPr>
        <p:spPr>
          <a:xfrm>
            <a:off x="780288" y="5669280"/>
            <a:ext cx="109728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/>
              <a:t>B.Tech CSE (AI &amp; ML)  ·  School of Computer Science &amp; Engineering  ·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7200BED4-18C3-4ABA-B239-36E5617BEB1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9D3632-7E65-4652-ADEE-92D64DE5BE0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953000" cy="6858000"/>
          </a:xfrm>
          <a:prstGeom prst="rect">
            <a:avLst/>
          </a:prstGeom>
          <a:solidFill>
            <a:srgbClr val="172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8D8ED6-F846-4ACB-888C-796903E47DBF}"/>
              </a:ext>
            </a:extLst>
          </p:cNvPr>
          <p:cNvSpPr>
            <a:spLocks noGrp="1"/>
          </p:cNvSpPr>
          <p:nvPr/>
        </p:nvSpPr>
        <p:spPr>
          <a:xfrm>
            <a:off x="4953000" y="0"/>
            <a:ext cx="7239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E4F06E-80AC-4BFF-9E9E-85C8FA9834EF}"/>
              </a:ext>
            </a:extLst>
          </p:cNvPr>
          <p:cNvSpPr>
            <a:spLocks noGrp="1"/>
          </p:cNvSpPr>
          <p:nvPr/>
        </p:nvSpPr>
        <p:spPr>
          <a:xfrm>
            <a:off x="571500" y="704850"/>
            <a:ext cx="3524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A7F3D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7F3D0"/>
                </a:solidFill>
                <a:latin typeface="Aptos"/>
                <a:ea typeface="Aptos"/>
                <a:cs typeface="Aptos"/>
              </a:rPr>
              <a:t>Java Project Presentation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2F905F-017A-498D-B538-EE58F6B04DB8}"/>
              </a:ext>
            </a:extLst>
          </p:cNvPr>
          <p:cNvSpPr>
            <a:spLocks noGrp="1"/>
          </p:cNvSpPr>
          <p:nvPr/>
        </p:nvSpPr>
        <p:spPr>
          <a:xfrm>
            <a:off x="571500" y="1466850"/>
            <a:ext cx="4095750" cy="1809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ATM Simulation</a:t>
            </a:r>
          </a:p>
          <a:p>
            <a:pPr algn="l">
              <a:def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Using OOPs</a:t>
            </a:r>
          </a:p>
          <a:p>
            <a:pPr algn="l">
              <a:def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With Java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89659C-DF72-445C-9D0C-262920B12DB1}"/>
              </a:ext>
            </a:extLst>
          </p:cNvPr>
          <p:cNvSpPr>
            <a:spLocks noGrp="1"/>
          </p:cNvSpPr>
          <p:nvPr/>
        </p:nvSpPr>
        <p:spPr>
          <a:xfrm>
            <a:off x="590550" y="3676650"/>
            <a:ext cx="1600200" cy="57150"/>
          </a:xfrm>
          <a:prstGeom prst="rect">
            <a:avLst/>
          </a:prstGeom>
          <a:solidFill>
            <a:srgbClr val="14B8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87C9BA-1BD6-4658-A24C-308D92C7EC64}"/>
              </a:ext>
            </a:extLst>
          </p:cNvPr>
          <p:cNvSpPr>
            <a:spLocks noGrp="1"/>
          </p:cNvSpPr>
          <p:nvPr/>
        </p:nvSpPr>
        <p:spPr>
          <a:xfrm>
            <a:off x="571500" y="4076700"/>
            <a:ext cx="37147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1D5DB"/>
                </a:solidFill>
                <a:latin typeface="Aptos"/>
                <a:ea typeface="Aptos"/>
                <a:cs typeface="Aptos"/>
              </a:rPr>
              <a:t>A console-based banking simulation demonstrating encapsulation, classes, objects, methods, and exception handling.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4E3EF5-8FFF-4693-AB6B-6EDA863975E5}"/>
              </a:ext>
            </a:extLst>
          </p:cNvPr>
          <p:cNvSpPr>
            <a:spLocks noGrp="1"/>
          </p:cNvSpPr>
          <p:nvPr/>
        </p:nvSpPr>
        <p:spPr>
          <a:xfrm>
            <a:off x="6191250" y="1162050"/>
            <a:ext cx="4095750" cy="4095750"/>
          </a:xfrm>
          <a:prstGeom prst="rect">
            <a:avLst/>
          </a:prstGeom>
          <a:solidFill>
            <a:srgbClr val="ECFDF5"/>
          </a:solidFill>
          <a:ln w="19050">
            <a:solidFill>
              <a:srgbClr val="CDEFE5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FAC0BC-3913-423D-BB1D-77E866977E9D}"/>
              </a:ext>
            </a:extLst>
          </p:cNvPr>
          <p:cNvSpPr>
            <a:spLocks noGrp="1"/>
          </p:cNvSpPr>
          <p:nvPr/>
        </p:nvSpPr>
        <p:spPr>
          <a:xfrm>
            <a:off x="6905625" y="1676400"/>
            <a:ext cx="2667000" cy="3429000"/>
          </a:xfrm>
          <a:prstGeom prst="rect">
            <a:avLst/>
          </a:prstGeom>
          <a:solidFill>
            <a:srgbClr val="17202A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1038FB-4409-43B6-A75B-33297A94887F}"/>
              </a:ext>
            </a:extLst>
          </p:cNvPr>
          <p:cNvSpPr>
            <a:spLocks noGrp="1"/>
          </p:cNvSpPr>
          <p:nvPr/>
        </p:nvSpPr>
        <p:spPr>
          <a:xfrm>
            <a:off x="7229475" y="2038350"/>
            <a:ext cx="2019300" cy="838200"/>
          </a:xfrm>
          <a:prstGeom prst="rect">
            <a:avLst/>
          </a:prstGeom>
          <a:solidFill>
            <a:srgbClr val="DCFC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1348AC-6F54-47B8-BEA3-BF9B447C0073}"/>
              </a:ext>
            </a:extLst>
          </p:cNvPr>
          <p:cNvSpPr>
            <a:spLocks noGrp="1"/>
          </p:cNvSpPr>
          <p:nvPr/>
        </p:nvSpPr>
        <p:spPr>
          <a:xfrm>
            <a:off x="7496175" y="2266950"/>
            <a:ext cx="152400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ATM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6B7DC3-EC28-4F9A-94C8-09BE0760259A}"/>
              </a:ext>
            </a:extLst>
          </p:cNvPr>
          <p:cNvSpPr>
            <a:spLocks noGrp="1"/>
          </p:cNvSpPr>
          <p:nvPr/>
        </p:nvSpPr>
        <p:spPr>
          <a:xfrm>
            <a:off x="7486650" y="3181350"/>
            <a:ext cx="1504950" cy="304800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DF1FAEA-E870-48C0-9EF5-1982AAF1472A}"/>
              </a:ext>
            </a:extLst>
          </p:cNvPr>
          <p:cNvSpPr>
            <a:spLocks noGrp="1"/>
          </p:cNvSpPr>
          <p:nvPr/>
        </p:nvSpPr>
        <p:spPr>
          <a:xfrm>
            <a:off x="7524750" y="3790950"/>
            <a:ext cx="266700" cy="209550"/>
          </a:xfrm>
          <a:prstGeom prst="rect">
            <a:avLst/>
          </a:prstGeom>
          <a:solidFill>
            <a:srgbClr val="E5E7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D128CF-3554-4EB0-A708-15A97DEB12FC}"/>
              </a:ext>
            </a:extLst>
          </p:cNvPr>
          <p:cNvSpPr>
            <a:spLocks noGrp="1"/>
          </p:cNvSpPr>
          <p:nvPr/>
        </p:nvSpPr>
        <p:spPr>
          <a:xfrm>
            <a:off x="8020050" y="3790950"/>
            <a:ext cx="266700" cy="209550"/>
          </a:xfrm>
          <a:prstGeom prst="rect">
            <a:avLst/>
          </a:prstGeom>
          <a:solidFill>
            <a:srgbClr val="E5E7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C3DD7F-8A3E-4BB7-9668-43A7D1463AB9}"/>
              </a:ext>
            </a:extLst>
          </p:cNvPr>
          <p:cNvSpPr>
            <a:spLocks noGrp="1"/>
          </p:cNvSpPr>
          <p:nvPr/>
        </p:nvSpPr>
        <p:spPr>
          <a:xfrm>
            <a:off x="8515350" y="3790950"/>
            <a:ext cx="266700" cy="209550"/>
          </a:xfrm>
          <a:prstGeom prst="rect">
            <a:avLst/>
          </a:prstGeom>
          <a:solidFill>
            <a:srgbClr val="E5E7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0BD66F-742E-44A5-A061-4BECFE8208A9}"/>
              </a:ext>
            </a:extLst>
          </p:cNvPr>
          <p:cNvSpPr>
            <a:spLocks noGrp="1"/>
          </p:cNvSpPr>
          <p:nvPr/>
        </p:nvSpPr>
        <p:spPr>
          <a:xfrm>
            <a:off x="7524750" y="4152900"/>
            <a:ext cx="266700" cy="209550"/>
          </a:xfrm>
          <a:prstGeom prst="rect">
            <a:avLst/>
          </a:prstGeom>
          <a:solidFill>
            <a:srgbClr val="E5E7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6CE818E-80A4-4CFD-8A8C-87C0F048BC25}"/>
              </a:ext>
            </a:extLst>
          </p:cNvPr>
          <p:cNvSpPr>
            <a:spLocks noGrp="1"/>
          </p:cNvSpPr>
          <p:nvPr/>
        </p:nvSpPr>
        <p:spPr>
          <a:xfrm>
            <a:off x="8020050" y="4152900"/>
            <a:ext cx="266700" cy="209550"/>
          </a:xfrm>
          <a:prstGeom prst="rect">
            <a:avLst/>
          </a:prstGeom>
          <a:solidFill>
            <a:srgbClr val="E5E7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5AF22C-072F-4FE0-9F9C-5CD7A1C747EC}"/>
              </a:ext>
            </a:extLst>
          </p:cNvPr>
          <p:cNvSpPr>
            <a:spLocks noGrp="1"/>
          </p:cNvSpPr>
          <p:nvPr/>
        </p:nvSpPr>
        <p:spPr>
          <a:xfrm>
            <a:off x="8515350" y="4152900"/>
            <a:ext cx="266700" cy="209550"/>
          </a:xfrm>
          <a:prstGeom prst="rect">
            <a:avLst/>
          </a:prstGeom>
          <a:solidFill>
            <a:srgbClr val="E5E7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48DAD9-531B-43FC-B90B-E1958A530D6F}"/>
              </a:ext>
            </a:extLst>
          </p:cNvPr>
          <p:cNvSpPr>
            <a:spLocks noGrp="1"/>
          </p:cNvSpPr>
          <p:nvPr/>
        </p:nvSpPr>
        <p:spPr>
          <a:xfrm>
            <a:off x="7524750" y="4514850"/>
            <a:ext cx="266700" cy="209550"/>
          </a:xfrm>
          <a:prstGeom prst="rect">
            <a:avLst/>
          </a:prstGeom>
          <a:solidFill>
            <a:srgbClr val="E5E7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348EE99-5A16-4513-9C66-8A31E6D36017}"/>
              </a:ext>
            </a:extLst>
          </p:cNvPr>
          <p:cNvSpPr>
            <a:spLocks noGrp="1"/>
          </p:cNvSpPr>
          <p:nvPr/>
        </p:nvSpPr>
        <p:spPr>
          <a:xfrm>
            <a:off x="8020050" y="4514850"/>
            <a:ext cx="266700" cy="209550"/>
          </a:xfrm>
          <a:prstGeom prst="rect">
            <a:avLst/>
          </a:prstGeom>
          <a:solidFill>
            <a:srgbClr val="E5E7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5074A76-2F9B-4DAF-B190-8F12D9DE9D09}"/>
              </a:ext>
            </a:extLst>
          </p:cNvPr>
          <p:cNvSpPr>
            <a:spLocks noGrp="1"/>
          </p:cNvSpPr>
          <p:nvPr/>
        </p:nvSpPr>
        <p:spPr>
          <a:xfrm>
            <a:off x="8515350" y="4514850"/>
            <a:ext cx="266700" cy="209550"/>
          </a:xfrm>
          <a:prstGeom prst="rect">
            <a:avLst/>
          </a:prstGeom>
          <a:solidFill>
            <a:srgbClr val="E5E7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2" name="Graphic 2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515350" y="3790950"/>
            <a:ext cx="685800" cy="6858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A9B2BD0C-7C6C-4918-8FD4-52F9D99345AF}"/>
              </a:ext>
            </a:extLst>
          </p:cNvPr>
          <p:cNvSpPr>
            <a:spLocks noGrp="1"/>
          </p:cNvSpPr>
          <p:nvPr/>
        </p:nvSpPr>
        <p:spPr>
          <a:xfrm>
            <a:off x="6191250" y="5600700"/>
            <a:ext cx="4095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Object-Oriented Programming Concepts</a:t>
            </a:r>
          </a:p>
        </p:txBody>
      </p:sp>
    </p:spTree>
    <p:extLst>
      <p:ext uri="{BB962C8B-B14F-4D97-AF65-F5344CB8AC3E}">
        <p14:creationId xmlns:p14="http://schemas.microsoft.com/office/powerpoint/2010/main" val="823619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EC21D05E-D992-41CE-8A25-ACFB9F4ED8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EB891D-283E-493E-A131-57AD2117DE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172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262977-4944-4C7E-A9DC-A156D196BE27}"/>
              </a:ext>
            </a:extLst>
          </p:cNvPr>
          <p:cNvSpPr>
            <a:spLocks noGrp="1"/>
          </p:cNvSpPr>
          <p:nvPr/>
        </p:nvSpPr>
        <p:spPr>
          <a:xfrm>
            <a:off x="419100" y="171450"/>
            <a:ext cx="7048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DDE7F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DE7F0"/>
                </a:solidFill>
                <a:latin typeface="Aptos"/>
                <a:ea typeface="Aptos"/>
                <a:cs typeface="Aptos"/>
              </a:rPr>
              <a:t>ATM Simulation Using OOPs With Java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91CD31-5814-49BA-B30D-3EEF3C6C9832}"/>
              </a:ext>
            </a:extLst>
          </p:cNvPr>
          <p:cNvSpPr>
            <a:spLocks noGrp="1"/>
          </p:cNvSpPr>
          <p:nvPr/>
        </p:nvSpPr>
        <p:spPr>
          <a:xfrm>
            <a:off x="419100" y="876300"/>
            <a:ext cx="8667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Introduction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B389CA-7995-4EDF-8672-EBF772BC15B8}"/>
              </a:ext>
            </a:extLst>
          </p:cNvPr>
          <p:cNvSpPr>
            <a:spLocks noGrp="1"/>
          </p:cNvSpPr>
          <p:nvPr/>
        </p:nvSpPr>
        <p:spPr>
          <a:xfrm>
            <a:off x="419100" y="1466850"/>
            <a:ext cx="1257300" cy="47625"/>
          </a:xfrm>
          <a:prstGeom prst="rect">
            <a:avLst/>
          </a:prstGeom>
          <a:solidFill>
            <a:srgbClr val="14B8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6AFE59-CA67-47C8-8C5D-69168BBAB150}"/>
              </a:ext>
            </a:extLst>
          </p:cNvPr>
          <p:cNvSpPr>
            <a:spLocks noGrp="1"/>
          </p:cNvSpPr>
          <p:nvPr/>
        </p:nvSpPr>
        <p:spPr>
          <a:xfrm>
            <a:off x="10668000" y="228600"/>
            <a:ext cx="857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DDE7F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DE7F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8E97AF-13F9-494E-A53F-901695C1174A}"/>
              </a:ext>
            </a:extLst>
          </p:cNvPr>
          <p:cNvSpPr>
            <a:spLocks noGrp="1"/>
          </p:cNvSpPr>
          <p:nvPr/>
        </p:nvSpPr>
        <p:spPr>
          <a:xfrm>
            <a:off x="419100" y="1790700"/>
            <a:ext cx="58102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The project simulates basic ATM operations through a Java console application.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1E6B810-6699-4CCB-A5BA-470A1E75E68A}"/>
              </a:ext>
            </a:extLst>
          </p:cNvPr>
          <p:cNvSpPr>
            <a:spLocks noGrp="1"/>
          </p:cNvSpPr>
          <p:nvPr/>
        </p:nvSpPr>
        <p:spPr>
          <a:xfrm>
            <a:off x="552450" y="2752725"/>
            <a:ext cx="85725" cy="85725"/>
          </a:xfrm>
          <a:prstGeom prst="ellipse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760119-99AA-4452-9211-52E024BA68F1}"/>
              </a:ext>
            </a:extLst>
          </p:cNvPr>
          <p:cNvSpPr>
            <a:spLocks noGrp="1"/>
          </p:cNvSpPr>
          <p:nvPr/>
        </p:nvSpPr>
        <p:spPr>
          <a:xfrm>
            <a:off x="742950" y="2686050"/>
            <a:ext cx="4095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Authenticates the user using a fixed PIN.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44B3000-BBC7-4332-B302-140774EFC9FC}"/>
              </a:ext>
            </a:extLst>
          </p:cNvPr>
          <p:cNvSpPr>
            <a:spLocks noGrp="1"/>
          </p:cNvSpPr>
          <p:nvPr/>
        </p:nvSpPr>
        <p:spPr>
          <a:xfrm>
            <a:off x="552450" y="3209925"/>
            <a:ext cx="85725" cy="85725"/>
          </a:xfrm>
          <a:prstGeom prst="ellipse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DBEC99-43AA-4253-A7CD-D055386B0C6E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4095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Displays a menu for withdrawal, balance check, and exit.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8E937E1-8602-4D7D-9CC2-63F7E8C3B193}"/>
              </a:ext>
            </a:extLst>
          </p:cNvPr>
          <p:cNvSpPr>
            <a:spLocks noGrp="1"/>
          </p:cNvSpPr>
          <p:nvPr/>
        </p:nvSpPr>
        <p:spPr>
          <a:xfrm>
            <a:off x="552450" y="3667125"/>
            <a:ext cx="85725" cy="85725"/>
          </a:xfrm>
          <a:prstGeom prst="ellipse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834771-A610-47B0-B726-ED78740FC0DF}"/>
              </a:ext>
            </a:extLst>
          </p:cNvPr>
          <p:cNvSpPr>
            <a:spLocks noGrp="1"/>
          </p:cNvSpPr>
          <p:nvPr/>
        </p:nvSpPr>
        <p:spPr>
          <a:xfrm>
            <a:off x="742950" y="3600450"/>
            <a:ext cx="4095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Uses separate classes for application startup, ATM behavior, and account data.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FA3FD4B-FBD7-43AA-9655-E723C8F4183B}"/>
              </a:ext>
            </a:extLst>
          </p:cNvPr>
          <p:cNvSpPr>
            <a:spLocks noGrp="1"/>
          </p:cNvSpPr>
          <p:nvPr/>
        </p:nvSpPr>
        <p:spPr>
          <a:xfrm>
            <a:off x="552450" y="4124325"/>
            <a:ext cx="85725" cy="85725"/>
          </a:xfrm>
          <a:prstGeom prst="ellipse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92BDE6-16CE-43BF-B63D-36ACDA0F161B}"/>
              </a:ext>
            </a:extLst>
          </p:cNvPr>
          <p:cNvSpPr>
            <a:spLocks noGrp="1"/>
          </p:cNvSpPr>
          <p:nvPr/>
        </p:nvSpPr>
        <p:spPr>
          <a:xfrm>
            <a:off x="742950" y="4057650"/>
            <a:ext cx="4095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Handles invalid amount and insufficient balance using custom exceptions.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B4336F-ECC4-43DA-8CFA-2AB2B623727E}"/>
              </a:ext>
            </a:extLst>
          </p:cNvPr>
          <p:cNvSpPr>
            <a:spLocks noGrp="1"/>
          </p:cNvSpPr>
          <p:nvPr/>
        </p:nvSpPr>
        <p:spPr>
          <a:xfrm>
            <a:off x="7334250" y="1809750"/>
            <a:ext cx="3562350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pic>
        <p:nvPicPr>
          <p:cNvPr id="17" name="Graphic 1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610600" y="2095500"/>
            <a:ext cx="876300" cy="8763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E130D50-F0BD-4247-B9A6-75589B610557}"/>
              </a:ext>
            </a:extLst>
          </p:cNvPr>
          <p:cNvSpPr>
            <a:spLocks noGrp="1"/>
          </p:cNvSpPr>
          <p:nvPr/>
        </p:nvSpPr>
        <p:spPr>
          <a:xfrm>
            <a:off x="7715250" y="3238500"/>
            <a:ext cx="28003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Project Aim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34CFEC3-25B5-42F6-9ADE-DBBDFFF53485}"/>
              </a:ext>
            </a:extLst>
          </p:cNvPr>
          <p:cNvSpPr>
            <a:spLocks noGrp="1"/>
          </p:cNvSpPr>
          <p:nvPr/>
        </p:nvSpPr>
        <p:spPr>
          <a:xfrm>
            <a:off x="7829550" y="3829050"/>
            <a:ext cx="25717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0">
                <a:solidFill>
                  <a:srgbClr val="5965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96574"/>
                </a:solidFill>
                <a:latin typeface="Aptos"/>
                <a:ea typeface="Aptos"/>
                <a:cs typeface="Aptos"/>
              </a:rPr>
              <a:t>To show how real-world banking actions can be represented as objects, methods, and controlled state changes.</a:t>
            </a:r>
          </a:p>
        </p:txBody>
      </p:sp>
    </p:spTree>
    <p:extLst>
      <p:ext uri="{BB962C8B-B14F-4D97-AF65-F5344CB8AC3E}">
        <p14:creationId xmlns:p14="http://schemas.microsoft.com/office/powerpoint/2010/main" val="1808567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3A8286E1-3B1E-4B16-B5C0-2A43F629D6E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57E5FB-95E6-4C3E-803D-84DAA03D9B3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172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A1DE2F-D379-461E-A234-6A03B1B89789}"/>
              </a:ext>
            </a:extLst>
          </p:cNvPr>
          <p:cNvSpPr>
            <a:spLocks noGrp="1"/>
          </p:cNvSpPr>
          <p:nvPr/>
        </p:nvSpPr>
        <p:spPr>
          <a:xfrm>
            <a:off x="419100" y="171450"/>
            <a:ext cx="7048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DDE7F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DE7F0"/>
                </a:solidFill>
                <a:latin typeface="Aptos"/>
                <a:ea typeface="Aptos"/>
                <a:cs typeface="Aptos"/>
              </a:rPr>
              <a:t>ATM Simulation Using OOPs With Java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5AD1FC-D441-47CE-86F8-5F272230CF41}"/>
              </a:ext>
            </a:extLst>
          </p:cNvPr>
          <p:cNvSpPr>
            <a:spLocks noGrp="1"/>
          </p:cNvSpPr>
          <p:nvPr/>
        </p:nvSpPr>
        <p:spPr>
          <a:xfrm>
            <a:off x="419100" y="876300"/>
            <a:ext cx="8667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OOP Design in the Project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0281F7-B0C1-4361-94C4-878C2BFF98A7}"/>
              </a:ext>
            </a:extLst>
          </p:cNvPr>
          <p:cNvSpPr>
            <a:spLocks noGrp="1"/>
          </p:cNvSpPr>
          <p:nvPr/>
        </p:nvSpPr>
        <p:spPr>
          <a:xfrm>
            <a:off x="419100" y="1466850"/>
            <a:ext cx="1257300" cy="47625"/>
          </a:xfrm>
          <a:prstGeom prst="rect">
            <a:avLst/>
          </a:prstGeom>
          <a:solidFill>
            <a:srgbClr val="14B8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0106BB-D1D6-4727-89B6-FC2617DCF058}"/>
              </a:ext>
            </a:extLst>
          </p:cNvPr>
          <p:cNvSpPr>
            <a:spLocks noGrp="1"/>
          </p:cNvSpPr>
          <p:nvPr/>
        </p:nvSpPr>
        <p:spPr>
          <a:xfrm>
            <a:off x="10668000" y="228600"/>
            <a:ext cx="857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DDE7F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DE7F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3789D1-5608-446B-A3CA-73D2B16241FB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238125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8809EE-E38B-407B-87E0-33C0FE191B1F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2381250" cy="4191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170B57-A730-4FFA-AC11-BBC79FBD75AA}"/>
              </a:ext>
            </a:extLst>
          </p:cNvPr>
          <p:cNvSpPr>
            <a:spLocks noGrp="1"/>
          </p:cNvSpPr>
          <p:nvPr/>
        </p:nvSpPr>
        <p:spPr>
          <a:xfrm>
            <a:off x="838200" y="1905000"/>
            <a:ext cx="2038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ATMApplication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1D9A62-8CA7-4622-A19D-C6115250B715}"/>
              </a:ext>
            </a:extLst>
          </p:cNvPr>
          <p:cNvSpPr>
            <a:spLocks noGrp="1"/>
          </p:cNvSpPr>
          <p:nvPr/>
        </p:nvSpPr>
        <p:spPr>
          <a:xfrm>
            <a:off x="838200" y="2400300"/>
            <a:ext cx="20383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main()</a:t>
            </a:r>
          </a:p>
          <a:p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Creates Scanner, Account, and ATM objects.</a:t>
            </a:r>
          </a:p>
          <a:p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Starts the program.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8E7774-2594-47CF-8FF4-E5CCE167BBC3}"/>
              </a:ext>
            </a:extLst>
          </p:cNvPr>
          <p:cNvSpPr>
            <a:spLocks noGrp="1"/>
          </p:cNvSpPr>
          <p:nvPr/>
        </p:nvSpPr>
        <p:spPr>
          <a:xfrm>
            <a:off x="3810000" y="1809750"/>
            <a:ext cx="238125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F6C1166-B744-4721-8176-ECBA66A9DD54}"/>
              </a:ext>
            </a:extLst>
          </p:cNvPr>
          <p:cNvSpPr>
            <a:spLocks noGrp="1"/>
          </p:cNvSpPr>
          <p:nvPr/>
        </p:nvSpPr>
        <p:spPr>
          <a:xfrm>
            <a:off x="3810000" y="1809750"/>
            <a:ext cx="2381250" cy="4191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492FBE-594E-45AD-85AA-3391DCB5B738}"/>
              </a:ext>
            </a:extLst>
          </p:cNvPr>
          <p:cNvSpPr>
            <a:spLocks noGrp="1"/>
          </p:cNvSpPr>
          <p:nvPr/>
        </p:nvSpPr>
        <p:spPr>
          <a:xfrm>
            <a:off x="3981450" y="1905000"/>
            <a:ext cx="2038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ATM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8660E7-0050-4D1F-B569-D6BE24A60D63}"/>
              </a:ext>
            </a:extLst>
          </p:cNvPr>
          <p:cNvSpPr>
            <a:spLocks noGrp="1"/>
          </p:cNvSpPr>
          <p:nvPr/>
        </p:nvSpPr>
        <p:spPr>
          <a:xfrm>
            <a:off x="3981450" y="2400300"/>
            <a:ext cx="20383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PIN authentication</a:t>
            </a:r>
          </a:p>
          <a:p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Menu handling</a:t>
            </a:r>
          </a:p>
          <a:p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Withdrawal processing</a:t>
            </a:r>
          </a:p>
          <a:p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Balance display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67427F-7556-47AB-8604-B0CD934308DF}"/>
              </a:ext>
            </a:extLst>
          </p:cNvPr>
          <p:cNvSpPr>
            <a:spLocks noGrp="1"/>
          </p:cNvSpPr>
          <p:nvPr/>
        </p:nvSpPr>
        <p:spPr>
          <a:xfrm>
            <a:off x="6953250" y="1809750"/>
            <a:ext cx="238125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BB459EF-959B-433E-835D-35447B943ABE}"/>
              </a:ext>
            </a:extLst>
          </p:cNvPr>
          <p:cNvSpPr>
            <a:spLocks noGrp="1"/>
          </p:cNvSpPr>
          <p:nvPr/>
        </p:nvSpPr>
        <p:spPr>
          <a:xfrm>
            <a:off x="6953250" y="1809750"/>
            <a:ext cx="2381250" cy="41910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5E2F453-0EF6-4393-B506-E4E800E31682}"/>
              </a:ext>
            </a:extLst>
          </p:cNvPr>
          <p:cNvSpPr>
            <a:spLocks noGrp="1"/>
          </p:cNvSpPr>
          <p:nvPr/>
        </p:nvSpPr>
        <p:spPr>
          <a:xfrm>
            <a:off x="7124700" y="1905000"/>
            <a:ext cx="2038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Account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BAFAA36-ACA6-415A-BCCF-756A2E3C0FF0}"/>
              </a:ext>
            </a:extLst>
          </p:cNvPr>
          <p:cNvSpPr>
            <a:spLocks noGrp="1"/>
          </p:cNvSpPr>
          <p:nvPr/>
        </p:nvSpPr>
        <p:spPr>
          <a:xfrm>
            <a:off x="7124700" y="2400300"/>
            <a:ext cx="20383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private balance</a:t>
            </a:r>
          </a:p>
          <a:p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getBalance()</a:t>
            </a:r>
          </a:p>
          <a:p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withdraw(amount)</a:t>
            </a:r>
          </a:p>
          <a:p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Encapsulates account state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005E86B-83C3-42B7-831C-0E4339714635}"/>
              </a:ext>
            </a:extLst>
          </p:cNvPr>
          <p:cNvSpPr>
            <a:spLocks noGrp="1"/>
          </p:cNvSpPr>
          <p:nvPr/>
        </p:nvSpPr>
        <p:spPr>
          <a:xfrm>
            <a:off x="3810000" y="4038600"/>
            <a:ext cx="238125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7A8D4FE-9596-443D-8561-839D3C3C82A4}"/>
              </a:ext>
            </a:extLst>
          </p:cNvPr>
          <p:cNvSpPr>
            <a:spLocks noGrp="1"/>
          </p:cNvSpPr>
          <p:nvPr/>
        </p:nvSpPr>
        <p:spPr>
          <a:xfrm>
            <a:off x="3810000" y="4038600"/>
            <a:ext cx="2381250" cy="419100"/>
          </a:xfrm>
          <a:prstGeom prst="rect">
            <a:avLst/>
          </a:prstGeom>
          <a:solidFill>
            <a:srgbClr val="DC26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2AAAC37-7CF0-4877-9FA8-6F90CF4C75BC}"/>
              </a:ext>
            </a:extLst>
          </p:cNvPr>
          <p:cNvSpPr>
            <a:spLocks noGrp="1"/>
          </p:cNvSpPr>
          <p:nvPr/>
        </p:nvSpPr>
        <p:spPr>
          <a:xfrm>
            <a:off x="3981450" y="4133850"/>
            <a:ext cx="2038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Custom Exceptions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D9787ED-CF0B-49C7-AB3E-02EEF8CAC4C5}"/>
              </a:ext>
            </a:extLst>
          </p:cNvPr>
          <p:cNvSpPr>
            <a:spLocks noGrp="1"/>
          </p:cNvSpPr>
          <p:nvPr/>
        </p:nvSpPr>
        <p:spPr>
          <a:xfrm>
            <a:off x="3981450" y="4629150"/>
            <a:ext cx="20383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InvalidAmountException</a:t>
            </a:r>
          </a:p>
          <a:p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InsufficientBalanceException</a:t>
            </a:r>
          </a:p>
        </p:txBody>
      </p:sp>
      <p:pic>
        <p:nvPicPr>
          <p:cNvPr id="23" name="Graphic 2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190875" y="2343150"/>
            <a:ext cx="400050" cy="400050"/>
          </a:xfrm>
          <a:prstGeom prst="rect">
            <a:avLst/>
          </a:prstGeom>
        </p:spPr>
      </p:pic>
      <p:pic>
        <p:nvPicPr>
          <p:cNvPr id="24" name="Graphic 2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343650" y="2343150"/>
            <a:ext cx="400050" cy="400050"/>
          </a:xfrm>
          <a:prstGeom prst="rect">
            <a:avLst/>
          </a:prstGeom>
        </p:spPr>
      </p:pic>
      <p:pic>
        <p:nvPicPr>
          <p:cNvPr id="25" name="Graphic 2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800600" y="3486150"/>
            <a:ext cx="400050" cy="40005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DE9F5758-0424-40F4-8935-F50E2BFB5700}"/>
              </a:ext>
            </a:extLst>
          </p:cNvPr>
          <p:cNvSpPr>
            <a:spLocks noGrp="1"/>
          </p:cNvSpPr>
          <p:nvPr/>
        </p:nvSpPr>
        <p:spPr>
          <a:xfrm>
            <a:off x="666750" y="5638800"/>
            <a:ext cx="990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Encapsulation keeps balance private, while methods define controlled interactions between ATM and Account.</a:t>
            </a:r>
          </a:p>
        </p:txBody>
      </p:sp>
    </p:spTree>
    <p:extLst>
      <p:ext uri="{BB962C8B-B14F-4D97-AF65-F5344CB8AC3E}">
        <p14:creationId xmlns:p14="http://schemas.microsoft.com/office/powerpoint/2010/main" val="1038841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66E183C7-E75A-4CBC-8416-29804D0B4CC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B737EA-CEA9-48C7-A184-253A7E75675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172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ECB9C8-EF56-42EF-BB22-B486B7CFBC25}"/>
              </a:ext>
            </a:extLst>
          </p:cNvPr>
          <p:cNvSpPr>
            <a:spLocks noGrp="1"/>
          </p:cNvSpPr>
          <p:nvPr/>
        </p:nvSpPr>
        <p:spPr>
          <a:xfrm>
            <a:off x="419100" y="171450"/>
            <a:ext cx="7048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DDE7F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DE7F0"/>
                </a:solidFill>
                <a:latin typeface="Aptos"/>
                <a:ea typeface="Aptos"/>
                <a:cs typeface="Aptos"/>
              </a:rPr>
              <a:t>ATM Simulation Using OOPs With Java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4CE23A-556F-4AB2-99E2-6EF74DEB84EE}"/>
              </a:ext>
            </a:extLst>
          </p:cNvPr>
          <p:cNvSpPr>
            <a:spLocks noGrp="1"/>
          </p:cNvSpPr>
          <p:nvPr/>
        </p:nvSpPr>
        <p:spPr>
          <a:xfrm>
            <a:off x="419100" y="876300"/>
            <a:ext cx="8667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Working of the Project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B771F7-8497-417D-B288-F5C0C27169DA}"/>
              </a:ext>
            </a:extLst>
          </p:cNvPr>
          <p:cNvSpPr>
            <a:spLocks noGrp="1"/>
          </p:cNvSpPr>
          <p:nvPr/>
        </p:nvSpPr>
        <p:spPr>
          <a:xfrm>
            <a:off x="419100" y="1466850"/>
            <a:ext cx="1257300" cy="47625"/>
          </a:xfrm>
          <a:prstGeom prst="rect">
            <a:avLst/>
          </a:prstGeom>
          <a:solidFill>
            <a:srgbClr val="14B8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427C25-BCE0-4729-8737-5006D54D55AC}"/>
              </a:ext>
            </a:extLst>
          </p:cNvPr>
          <p:cNvSpPr>
            <a:spLocks noGrp="1"/>
          </p:cNvSpPr>
          <p:nvPr/>
        </p:nvSpPr>
        <p:spPr>
          <a:xfrm>
            <a:off x="10668000" y="228600"/>
            <a:ext cx="857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DDE7F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DE7F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D3F0A3-EFB6-405D-B6EA-3BA4FC64A2C3}"/>
              </a:ext>
            </a:extLst>
          </p:cNvPr>
          <p:cNvSpPr>
            <a:spLocks noGrp="1"/>
          </p:cNvSpPr>
          <p:nvPr/>
        </p:nvSpPr>
        <p:spPr>
          <a:xfrm>
            <a:off x="666750" y="2171700"/>
            <a:ext cx="169545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pic>
        <p:nvPicPr>
          <p:cNvPr id="8" name="Graphic 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285875" y="2343150"/>
            <a:ext cx="457200" cy="4572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C34C584-A6EB-4EE9-8FAE-E84426203A4D}"/>
              </a:ext>
            </a:extLst>
          </p:cNvPr>
          <p:cNvSpPr>
            <a:spLocks noGrp="1"/>
          </p:cNvSpPr>
          <p:nvPr/>
        </p:nvSpPr>
        <p:spPr>
          <a:xfrm>
            <a:off x="819150" y="2914650"/>
            <a:ext cx="1390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Enter PIN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681E76-FDA1-4B68-BD6A-636E810C5148}"/>
              </a:ext>
            </a:extLst>
          </p:cNvPr>
          <p:cNvSpPr>
            <a:spLocks noGrp="1"/>
          </p:cNvSpPr>
          <p:nvPr/>
        </p:nvSpPr>
        <p:spPr>
          <a:xfrm>
            <a:off x="2857500" y="2171700"/>
            <a:ext cx="169545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pic>
        <p:nvPicPr>
          <p:cNvPr id="11" name="Graphic 1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3476625" y="2343150"/>
            <a:ext cx="457200" cy="4572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07E23F6-147F-429B-9401-41A4E11BAB2E}"/>
              </a:ext>
            </a:extLst>
          </p:cNvPr>
          <p:cNvSpPr>
            <a:spLocks noGrp="1"/>
          </p:cNvSpPr>
          <p:nvPr/>
        </p:nvSpPr>
        <p:spPr>
          <a:xfrm>
            <a:off x="3009900" y="2914650"/>
            <a:ext cx="1390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Authenticate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2FBB6C-88A4-4ABC-98F4-12967D532DD0}"/>
              </a:ext>
            </a:extLst>
          </p:cNvPr>
          <p:cNvSpPr>
            <a:spLocks noGrp="1"/>
          </p:cNvSpPr>
          <p:nvPr/>
        </p:nvSpPr>
        <p:spPr>
          <a:xfrm>
            <a:off x="5048250" y="2171700"/>
            <a:ext cx="169545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pic>
        <p:nvPicPr>
          <p:cNvPr id="14" name="Graphic 1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5667375" y="2343150"/>
            <a:ext cx="457200" cy="4572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DE883CB3-6AC7-4843-A74D-6FAC997DBABE}"/>
              </a:ext>
            </a:extLst>
          </p:cNvPr>
          <p:cNvSpPr>
            <a:spLocks noGrp="1"/>
          </p:cNvSpPr>
          <p:nvPr/>
        </p:nvSpPr>
        <p:spPr>
          <a:xfrm>
            <a:off x="5200650" y="2914650"/>
            <a:ext cx="1390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Show Menu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4DEFBC0-81E5-4320-9491-33D8F2CE4758}"/>
              </a:ext>
            </a:extLst>
          </p:cNvPr>
          <p:cNvSpPr>
            <a:spLocks noGrp="1"/>
          </p:cNvSpPr>
          <p:nvPr/>
        </p:nvSpPr>
        <p:spPr>
          <a:xfrm>
            <a:off x="7239000" y="2171700"/>
            <a:ext cx="169545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pic>
        <p:nvPicPr>
          <p:cNvPr id="17" name="Graphic 1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7858125" y="2343150"/>
            <a:ext cx="457200" cy="4572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F2AF9B58-0157-43A1-BE6B-8F84CFF91259}"/>
              </a:ext>
            </a:extLst>
          </p:cNvPr>
          <p:cNvSpPr>
            <a:spLocks noGrp="1"/>
          </p:cNvSpPr>
          <p:nvPr/>
        </p:nvSpPr>
        <p:spPr>
          <a:xfrm>
            <a:off x="7391400" y="2914650"/>
            <a:ext cx="1390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Select Option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0ECAC5D-3CCF-4684-A03D-80B23D78AF84}"/>
              </a:ext>
            </a:extLst>
          </p:cNvPr>
          <p:cNvSpPr>
            <a:spLocks noGrp="1"/>
          </p:cNvSpPr>
          <p:nvPr/>
        </p:nvSpPr>
        <p:spPr>
          <a:xfrm>
            <a:off x="9429750" y="2171700"/>
            <a:ext cx="169545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pic>
        <p:nvPicPr>
          <p:cNvPr id="20" name="Graphic 1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10048875" y="2343150"/>
            <a:ext cx="457200" cy="4572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6C66C970-75FD-4D01-A8FA-2EAEFC1F8EB8}"/>
              </a:ext>
            </a:extLst>
          </p:cNvPr>
          <p:cNvSpPr>
            <a:spLocks noGrp="1"/>
          </p:cNvSpPr>
          <p:nvPr/>
        </p:nvSpPr>
        <p:spPr>
          <a:xfrm>
            <a:off x="9582150" y="2914650"/>
            <a:ext cx="1390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pic>
        <p:nvPicPr>
          <p:cNvPr id="22" name="Graphic 2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2419350" y="2514600"/>
            <a:ext cx="342900" cy="342900"/>
          </a:xfrm>
          <a:prstGeom prst="rect">
            <a:avLst/>
          </a:prstGeom>
        </p:spPr>
      </p:pic>
      <p:pic>
        <p:nvPicPr>
          <p:cNvPr id="23" name="Graphic 2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4610100" y="2514600"/>
            <a:ext cx="342900" cy="342900"/>
          </a:xfrm>
          <a:prstGeom prst="rect">
            <a:avLst/>
          </a:prstGeom>
        </p:spPr>
      </p:pic>
      <p:pic>
        <p:nvPicPr>
          <p:cNvPr id="24" name="Graphic 2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6800850" y="2514600"/>
            <a:ext cx="342900" cy="342900"/>
          </a:xfrm>
          <a:prstGeom prst="rect">
            <a:avLst/>
          </a:prstGeom>
        </p:spPr>
      </p:pic>
      <p:pic>
        <p:nvPicPr>
          <p:cNvPr id="25" name="Graphic 2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8991600" y="2514600"/>
            <a:ext cx="342900" cy="34290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B649A6D1-9916-4069-A19B-D78A58B567B5}"/>
              </a:ext>
            </a:extLst>
          </p:cNvPr>
          <p:cNvSpPr>
            <a:spLocks noGrp="1"/>
          </p:cNvSpPr>
          <p:nvPr/>
        </p:nvSpPr>
        <p:spPr>
          <a:xfrm>
            <a:off x="1104900" y="4000500"/>
            <a:ext cx="9296400" cy="914400"/>
          </a:xfrm>
          <a:prstGeom prst="rect">
            <a:avLst/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8F10CB2-A927-4E5E-8FB5-C6651A5FF878}"/>
              </a:ext>
            </a:extLst>
          </p:cNvPr>
          <p:cNvSpPr>
            <a:spLocks noGrp="1"/>
          </p:cNvSpPr>
          <p:nvPr/>
        </p:nvSpPr>
        <p:spPr>
          <a:xfrm>
            <a:off x="1447800" y="4267200"/>
            <a:ext cx="86106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7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If the user chooses withdrawal, the program validates the amount, checks balance, updates the Account object, and prints success or error message.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12C451-3E72-4F2B-8A8D-FC36C5B36CAE}"/>
              </a:ext>
            </a:extLst>
          </p:cNvPr>
          <p:cNvSpPr>
            <a:spLocks noGrp="1"/>
          </p:cNvSpPr>
          <p:nvPr/>
        </p:nvSpPr>
        <p:spPr>
          <a:xfrm>
            <a:off x="857250" y="5448300"/>
            <a:ext cx="9906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Loop continues until the user selects Exit.</a:t>
            </a:r>
          </a:p>
        </p:txBody>
      </p:sp>
    </p:spTree>
    <p:extLst>
      <p:ext uri="{BB962C8B-B14F-4D97-AF65-F5344CB8AC3E}">
        <p14:creationId xmlns:p14="http://schemas.microsoft.com/office/powerpoint/2010/main" val="1428832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648309C-4543-4107-AEB0-C71AA43D58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A04422-60FA-4897-A1B0-452C3201195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72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1A0AA6-B1A4-4F4B-9F20-16D510EB19D8}"/>
              </a:ext>
            </a:extLst>
          </p:cNvPr>
          <p:cNvSpPr>
            <a:spLocks noGrp="1"/>
          </p:cNvSpPr>
          <p:nvPr/>
        </p:nvSpPr>
        <p:spPr>
          <a:xfrm>
            <a:off x="400050" y="180975"/>
            <a:ext cx="8286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Source Code Screenshot: Account and ATM Classes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0665A7-FBD6-4E9D-9F21-33D4F7BF4BE0}"/>
              </a:ext>
            </a:extLst>
          </p:cNvPr>
          <p:cNvSpPr>
            <a:spLocks noGrp="1"/>
          </p:cNvSpPr>
          <p:nvPr/>
        </p:nvSpPr>
        <p:spPr>
          <a:xfrm>
            <a:off x="10648950" y="219075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DDE7F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DE7F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F9DF51-C874-4559-9486-BE38E2D7FDFE}"/>
              </a:ext>
            </a:extLst>
          </p:cNvPr>
          <p:cNvSpPr>
            <a:spLocks noGrp="1"/>
          </p:cNvSpPr>
          <p:nvPr/>
        </p:nvSpPr>
        <p:spPr>
          <a:xfrm>
            <a:off x="0" y="609600"/>
            <a:ext cx="12192000" cy="624840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2925" y="610195"/>
            <a:ext cx="11106150" cy="6247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24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3B6A099-BA0D-4B02-8609-7373D7E27A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900708-A0F7-4D1E-9DCC-6E338AB923D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72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1D12EE-3B97-4478-9C09-C4CB49B7E739}"/>
              </a:ext>
            </a:extLst>
          </p:cNvPr>
          <p:cNvSpPr>
            <a:spLocks noGrp="1"/>
          </p:cNvSpPr>
          <p:nvPr/>
        </p:nvSpPr>
        <p:spPr>
          <a:xfrm>
            <a:off x="400050" y="180975"/>
            <a:ext cx="8286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Source Code Screenshot: Menu and Exception Handling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F3C5B7-30A2-47DC-8C07-FB37E3A22631}"/>
              </a:ext>
            </a:extLst>
          </p:cNvPr>
          <p:cNvSpPr>
            <a:spLocks noGrp="1"/>
          </p:cNvSpPr>
          <p:nvPr/>
        </p:nvSpPr>
        <p:spPr>
          <a:xfrm>
            <a:off x="10648950" y="219075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DDE7F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DE7F0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13CFF4-7D7B-4C25-A98E-C6B0F41ECBC4}"/>
              </a:ext>
            </a:extLst>
          </p:cNvPr>
          <p:cNvSpPr>
            <a:spLocks noGrp="1"/>
          </p:cNvSpPr>
          <p:nvPr/>
        </p:nvSpPr>
        <p:spPr>
          <a:xfrm>
            <a:off x="0" y="609600"/>
            <a:ext cx="12192000" cy="624840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2925" y="610195"/>
            <a:ext cx="11106150" cy="6247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840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C9FB7C3-089D-4F58-A8C8-12708DE15B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E8AA5E-248F-40D9-BA34-ACE1E24A841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72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72B6E3-BFFA-444A-8737-B30280F60437}"/>
              </a:ext>
            </a:extLst>
          </p:cNvPr>
          <p:cNvSpPr>
            <a:spLocks noGrp="1"/>
          </p:cNvSpPr>
          <p:nvPr/>
        </p:nvSpPr>
        <p:spPr>
          <a:xfrm>
            <a:off x="400050" y="180975"/>
            <a:ext cx="8286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Output Screenshot: Incorrect PIN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5AC728-5E7F-4831-BADD-1688F9AD7C7C}"/>
              </a:ext>
            </a:extLst>
          </p:cNvPr>
          <p:cNvSpPr>
            <a:spLocks noGrp="1"/>
          </p:cNvSpPr>
          <p:nvPr/>
        </p:nvSpPr>
        <p:spPr>
          <a:xfrm>
            <a:off x="10648950" y="219075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DDE7F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DE7F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E7AD7C-0909-4887-B898-0A31CBE5BE08}"/>
              </a:ext>
            </a:extLst>
          </p:cNvPr>
          <p:cNvSpPr>
            <a:spLocks noGrp="1"/>
          </p:cNvSpPr>
          <p:nvPr/>
        </p:nvSpPr>
        <p:spPr>
          <a:xfrm>
            <a:off x="0" y="609600"/>
            <a:ext cx="12192000" cy="624840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2925" y="610195"/>
            <a:ext cx="11106150" cy="6247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372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C289E24-255C-4B03-B7C4-39CF4C1FE9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AECD08-983E-49D6-AA0C-D67117F7297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72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A9A038-8496-4A25-86DE-BDD4EEF6920B}"/>
              </a:ext>
            </a:extLst>
          </p:cNvPr>
          <p:cNvSpPr>
            <a:spLocks noGrp="1"/>
          </p:cNvSpPr>
          <p:nvPr/>
        </p:nvSpPr>
        <p:spPr>
          <a:xfrm>
            <a:off x="400050" y="180975"/>
            <a:ext cx="8572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Output Screenshot: Withdrawal and Balance Check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27ED00-E04A-4E7A-A17E-FDA7248BEE54}"/>
              </a:ext>
            </a:extLst>
          </p:cNvPr>
          <p:cNvSpPr>
            <a:spLocks noGrp="1"/>
          </p:cNvSpPr>
          <p:nvPr/>
        </p:nvSpPr>
        <p:spPr>
          <a:xfrm>
            <a:off x="10648950" y="219075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DDE7F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DE7F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FBB908-F1F9-4024-8C65-801E6440BA64}"/>
              </a:ext>
            </a:extLst>
          </p:cNvPr>
          <p:cNvSpPr>
            <a:spLocks noGrp="1"/>
          </p:cNvSpPr>
          <p:nvPr/>
        </p:nvSpPr>
        <p:spPr>
          <a:xfrm>
            <a:off x="0" y="609600"/>
            <a:ext cx="12192000" cy="624840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2925" y="610195"/>
            <a:ext cx="11106150" cy="6247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923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2DEDB25-EA4E-4FD3-A21C-90410071F8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CD1428-5E2C-4CE1-ADA3-CFF21853023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172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069188-8EFA-487A-91BE-DBD3AB4B6B7E}"/>
              </a:ext>
            </a:extLst>
          </p:cNvPr>
          <p:cNvSpPr>
            <a:spLocks noGrp="1"/>
          </p:cNvSpPr>
          <p:nvPr/>
        </p:nvSpPr>
        <p:spPr>
          <a:xfrm>
            <a:off x="419100" y="171450"/>
            <a:ext cx="7048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DDE7F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DE7F0"/>
                </a:solidFill>
                <a:latin typeface="Aptos"/>
                <a:ea typeface="Aptos"/>
                <a:cs typeface="Aptos"/>
              </a:rPr>
              <a:t>ATM Simulation Using OOPs With Java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9BAF06-28EC-4373-B931-90AB61D315A0}"/>
              </a:ext>
            </a:extLst>
          </p:cNvPr>
          <p:cNvSpPr>
            <a:spLocks noGrp="1"/>
          </p:cNvSpPr>
          <p:nvPr/>
        </p:nvSpPr>
        <p:spPr>
          <a:xfrm>
            <a:off x="419100" y="876300"/>
            <a:ext cx="8667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Conclusion and Future Scope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5FB4A-1F18-4017-9AC2-1E1F194B3B73}"/>
              </a:ext>
            </a:extLst>
          </p:cNvPr>
          <p:cNvSpPr>
            <a:spLocks noGrp="1"/>
          </p:cNvSpPr>
          <p:nvPr/>
        </p:nvSpPr>
        <p:spPr>
          <a:xfrm>
            <a:off x="419100" y="1466850"/>
            <a:ext cx="1257300" cy="47625"/>
          </a:xfrm>
          <a:prstGeom prst="rect">
            <a:avLst/>
          </a:prstGeom>
          <a:solidFill>
            <a:srgbClr val="14B8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59223B-F60C-4C01-902F-46025E78081C}"/>
              </a:ext>
            </a:extLst>
          </p:cNvPr>
          <p:cNvSpPr>
            <a:spLocks noGrp="1"/>
          </p:cNvSpPr>
          <p:nvPr/>
        </p:nvSpPr>
        <p:spPr>
          <a:xfrm>
            <a:off x="10668000" y="228600"/>
            <a:ext cx="857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DDE7F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DE7F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6D08D3-91AE-40C7-839D-74F5C7C99ED4}"/>
              </a:ext>
            </a:extLst>
          </p:cNvPr>
          <p:cNvSpPr>
            <a:spLocks noGrp="1"/>
          </p:cNvSpPr>
          <p:nvPr/>
        </p:nvSpPr>
        <p:spPr>
          <a:xfrm>
            <a:off x="609600" y="1847850"/>
            <a:ext cx="4953000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46DC40-997D-4C8C-AECA-9EE49EFDCB63}"/>
              </a:ext>
            </a:extLst>
          </p:cNvPr>
          <p:cNvSpPr>
            <a:spLocks noGrp="1"/>
          </p:cNvSpPr>
          <p:nvPr/>
        </p:nvSpPr>
        <p:spPr>
          <a:xfrm>
            <a:off x="933450" y="2152650"/>
            <a:ext cx="4286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D9B555A-01AF-49AA-8025-53C6EE676991}"/>
              </a:ext>
            </a:extLst>
          </p:cNvPr>
          <p:cNvSpPr>
            <a:spLocks noGrp="1"/>
          </p:cNvSpPr>
          <p:nvPr/>
        </p:nvSpPr>
        <p:spPr>
          <a:xfrm>
            <a:off x="971550" y="2943225"/>
            <a:ext cx="85725" cy="85725"/>
          </a:xfrm>
          <a:prstGeom prst="ellipse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3C8108-1737-4B17-A04D-52AFEBD08E8B}"/>
              </a:ext>
            </a:extLst>
          </p:cNvPr>
          <p:cNvSpPr>
            <a:spLocks noGrp="1"/>
          </p:cNvSpPr>
          <p:nvPr/>
        </p:nvSpPr>
        <p:spPr>
          <a:xfrm>
            <a:off x="1162050" y="2876550"/>
            <a:ext cx="4095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ATM operations were implemented with clear class responsibilities.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E95C428-7D94-4EF2-97F7-041132BABAAC}"/>
              </a:ext>
            </a:extLst>
          </p:cNvPr>
          <p:cNvSpPr>
            <a:spLocks noGrp="1"/>
          </p:cNvSpPr>
          <p:nvPr/>
        </p:nvSpPr>
        <p:spPr>
          <a:xfrm>
            <a:off x="971550" y="3438525"/>
            <a:ext cx="85725" cy="85725"/>
          </a:xfrm>
          <a:prstGeom prst="ellipse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2E4BA3-92EE-4522-B01F-BFA8B1F58C16}"/>
              </a:ext>
            </a:extLst>
          </p:cNvPr>
          <p:cNvSpPr>
            <a:spLocks noGrp="1"/>
          </p:cNvSpPr>
          <p:nvPr/>
        </p:nvSpPr>
        <p:spPr>
          <a:xfrm>
            <a:off x="1162050" y="3371850"/>
            <a:ext cx="4095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OOP concepts made the project modular and easy to understand.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EC5024A-4277-4028-9C22-797264A2C868}"/>
              </a:ext>
            </a:extLst>
          </p:cNvPr>
          <p:cNvSpPr>
            <a:spLocks noGrp="1"/>
          </p:cNvSpPr>
          <p:nvPr/>
        </p:nvSpPr>
        <p:spPr>
          <a:xfrm>
            <a:off x="971550" y="3933825"/>
            <a:ext cx="85725" cy="85725"/>
          </a:xfrm>
          <a:prstGeom prst="ellipse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C6E5ED-6255-4ABD-AFCD-015DDBAEAD06}"/>
              </a:ext>
            </a:extLst>
          </p:cNvPr>
          <p:cNvSpPr>
            <a:spLocks noGrp="1"/>
          </p:cNvSpPr>
          <p:nvPr/>
        </p:nvSpPr>
        <p:spPr>
          <a:xfrm>
            <a:off x="1162050" y="3867150"/>
            <a:ext cx="4095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Exception handling improved reliability for invalid transactions.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C43246-EB5E-45BD-BAF9-15755820E889}"/>
              </a:ext>
            </a:extLst>
          </p:cNvPr>
          <p:cNvSpPr>
            <a:spLocks noGrp="1"/>
          </p:cNvSpPr>
          <p:nvPr/>
        </p:nvSpPr>
        <p:spPr>
          <a:xfrm>
            <a:off x="6343650" y="1847850"/>
            <a:ext cx="4953000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483186C-F9EF-4632-B3C9-0A17D0D9ECF0}"/>
              </a:ext>
            </a:extLst>
          </p:cNvPr>
          <p:cNvSpPr>
            <a:spLocks noGrp="1"/>
          </p:cNvSpPr>
          <p:nvPr/>
        </p:nvSpPr>
        <p:spPr>
          <a:xfrm>
            <a:off x="6667500" y="2152650"/>
            <a:ext cx="4286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Future Scope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5A0D22F-F49E-43DD-84B3-D6F44096B264}"/>
              </a:ext>
            </a:extLst>
          </p:cNvPr>
          <p:cNvSpPr>
            <a:spLocks noGrp="1"/>
          </p:cNvSpPr>
          <p:nvPr/>
        </p:nvSpPr>
        <p:spPr>
          <a:xfrm>
            <a:off x="6705600" y="2943225"/>
            <a:ext cx="85725" cy="85725"/>
          </a:xfrm>
          <a:prstGeom prst="ellipse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F40199C-20C8-437E-9769-9F2085AA712E}"/>
              </a:ext>
            </a:extLst>
          </p:cNvPr>
          <p:cNvSpPr>
            <a:spLocks noGrp="1"/>
          </p:cNvSpPr>
          <p:nvPr/>
        </p:nvSpPr>
        <p:spPr>
          <a:xfrm>
            <a:off x="6896100" y="2876550"/>
            <a:ext cx="4095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Add deposit, PIN change, and transaction history features.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0B43C9D-B50E-4E4B-8296-437B8C650A3D}"/>
              </a:ext>
            </a:extLst>
          </p:cNvPr>
          <p:cNvSpPr>
            <a:spLocks noGrp="1"/>
          </p:cNvSpPr>
          <p:nvPr/>
        </p:nvSpPr>
        <p:spPr>
          <a:xfrm>
            <a:off x="6705600" y="3438525"/>
            <a:ext cx="85725" cy="85725"/>
          </a:xfrm>
          <a:prstGeom prst="ellipse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DF774A2-7AB7-47E0-80F7-E45FE477C011}"/>
              </a:ext>
            </a:extLst>
          </p:cNvPr>
          <p:cNvSpPr>
            <a:spLocks noGrp="1"/>
          </p:cNvSpPr>
          <p:nvPr/>
        </p:nvSpPr>
        <p:spPr>
          <a:xfrm>
            <a:off x="6896100" y="3371850"/>
            <a:ext cx="4095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Connect the app with database storage for multiple users.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39C08B9-CF08-47BE-94EE-4515FE2B0911}"/>
              </a:ext>
            </a:extLst>
          </p:cNvPr>
          <p:cNvSpPr>
            <a:spLocks noGrp="1"/>
          </p:cNvSpPr>
          <p:nvPr/>
        </p:nvSpPr>
        <p:spPr>
          <a:xfrm>
            <a:off x="6705600" y="3933825"/>
            <a:ext cx="85725" cy="85725"/>
          </a:xfrm>
          <a:prstGeom prst="ellipse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CC45193-D284-4037-BE10-FC8FBA201E29}"/>
              </a:ext>
            </a:extLst>
          </p:cNvPr>
          <p:cNvSpPr>
            <a:spLocks noGrp="1"/>
          </p:cNvSpPr>
          <p:nvPr/>
        </p:nvSpPr>
        <p:spPr>
          <a:xfrm>
            <a:off x="6896100" y="3867150"/>
            <a:ext cx="4095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Build a GUI using JavaFX or Swing for a better user experience.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0AA50D2-6FBA-4AA5-8B39-47D669B73B02}"/>
              </a:ext>
            </a:extLst>
          </p:cNvPr>
          <p:cNvSpPr>
            <a:spLocks noGrp="1"/>
          </p:cNvSpPr>
          <p:nvPr/>
        </p:nvSpPr>
        <p:spPr>
          <a:xfrm>
            <a:off x="2190750" y="5619750"/>
            <a:ext cx="7524750" cy="438150"/>
          </a:xfrm>
          <a:prstGeom prst="rect">
            <a:avLst/>
          </a:prstGeom>
          <a:solidFill>
            <a:srgbClr val="172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ED2D5DB-5FD6-444F-88E2-5FFBF4CE228A}"/>
              </a:ext>
            </a:extLst>
          </p:cNvPr>
          <p:cNvSpPr>
            <a:spLocks noGrp="1"/>
          </p:cNvSpPr>
          <p:nvPr/>
        </p:nvSpPr>
        <p:spPr>
          <a:xfrm>
            <a:off x="2476500" y="5734050"/>
            <a:ext cx="6953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3848201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410</Words>
  <Application>Microsoft Office PowerPoint</Application>
  <DocSecurity>0</DocSecurity>
  <PresentationFormat>Widescreen</PresentationFormat>
  <Paragraphs>76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Calibri</vt:lpstr>
      <vt:lpstr>Trebuchet MS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Mansi Gupta</cp:lastModifiedBy>
  <cp:revision>1</cp:revision>
  <dcterms:created xsi:type="dcterms:W3CDTF">2026-06-09T14:59:59Z</dcterms:created>
  <dcterms:modified xsi:type="dcterms:W3CDTF">2026-06-09T15:14:33Z</dcterms:modified>
</cp:coreProperties>
</file>